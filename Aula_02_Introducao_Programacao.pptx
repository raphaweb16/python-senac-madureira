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2" r:id="rId10"/>
    <p:sldId id="273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69A"/>
                </a:solidFill>
                <a:latin typeface="Aptos"/>
              </a:defRPr>
            </a:pPr>
            <a:r>
              <a:t>AULA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AFAFA"/>
                </a:solidFill>
                <a:latin typeface="Aptos"/>
              </a:defRPr>
            </a:pPr>
            <a:r>
              <a:t>Introdução à Programação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CDDAE6"/>
                </a:solidFill>
                <a:latin typeface="Aptos"/>
              </a:defRPr>
            </a:pPr>
            <a:r>
              <a:t>Linguagens • VS Code • Node.js • Variáveis e constantes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49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AFAFA"/>
                </a:solidFill>
                <a:latin typeface="Aptos"/>
              </a:defRPr>
            </a:pPr>
            <a:r>
              <a:t>Programação em Python  |  UC: Desenvolver Algoritmos Utilizando Lógica de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Dados têm tipos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201168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10</a:t>
            </a:r>
            <a:br/>
            <a:r>
              <a:t>"10"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965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São a mesma coisa?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26974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32A34"/>
                </a:solidFill>
                <a:latin typeface="Aptos"/>
              </a:defRPr>
            </a:pPr>
            <a:r>
              <a:t>Um é um valor numérico; o outro é texto. As linguagens possuem regras diferentes para lidar com tipos de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6583680" cy="132588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612648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console.log(10 + 10);</a:t>
            </a:r>
            <a:br/>
            <a:r>
              <a:t>console.log("10" + "10");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6177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63B4"/>
                </a:solidFill>
                <a:latin typeface="Aptos"/>
              </a:defRPr>
            </a:pPr>
            <a:r>
              <a:t>Preveja a saída antes de executar.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Tipagem: regras diferentes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63B4"/>
                </a:solidFill>
                <a:latin typeface="Aptos"/>
              </a:defRPr>
            </a:pPr>
            <a:r>
              <a:t>FORTEMENTE TIPADAS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512064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tipo</a:t>
            </a:r>
            <a:r>
              <a:rPr dirty="0"/>
              <a:t> dos dados é </a:t>
            </a:r>
            <a:r>
              <a:rPr dirty="0" err="1"/>
              <a:t>rigorosamente</a:t>
            </a:r>
            <a:r>
              <a:rPr dirty="0"/>
              <a:t> </a:t>
            </a:r>
            <a:r>
              <a:rPr dirty="0" err="1"/>
              <a:t>respeitado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/>
              <a:t>Ajuda a </a:t>
            </a:r>
            <a:r>
              <a:rPr dirty="0" err="1"/>
              <a:t>evitar</a:t>
            </a:r>
            <a:r>
              <a:rPr dirty="0"/>
              <a:t> </a:t>
            </a:r>
            <a:r>
              <a:rPr dirty="0" err="1"/>
              <a:t>misturas</a:t>
            </a:r>
            <a:r>
              <a:rPr dirty="0"/>
              <a:t> </a:t>
            </a:r>
            <a:r>
              <a:rPr dirty="0" err="1"/>
              <a:t>arbitrárias</a:t>
            </a:r>
            <a:r>
              <a:rPr dirty="0"/>
              <a:t> entre </a:t>
            </a:r>
            <a:r>
              <a:rPr dirty="0" err="1"/>
              <a:t>tipos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 err="1"/>
              <a:t>Exemplos</a:t>
            </a:r>
            <a:r>
              <a:rPr dirty="0"/>
              <a:t> </a:t>
            </a:r>
            <a:r>
              <a:rPr dirty="0" err="1"/>
              <a:t>citados</a:t>
            </a:r>
            <a:r>
              <a:rPr dirty="0"/>
              <a:t>: Java e C#.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EB8E34"/>
                </a:solidFill>
                <a:latin typeface="Aptos"/>
              </a:defRPr>
            </a:pPr>
            <a:r>
              <a:t>FRACAMENTE TIPADAS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23160"/>
            <a:ext cx="5029200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/>
              <a:t>Maior </a:t>
            </a:r>
            <a:r>
              <a:rPr dirty="0" err="1"/>
              <a:t>flexibilidade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conversão</a:t>
            </a:r>
            <a:r>
              <a:rPr dirty="0"/>
              <a:t>/</a:t>
            </a:r>
            <a:r>
              <a:rPr dirty="0" err="1"/>
              <a:t>mistura</a:t>
            </a:r>
            <a:r>
              <a:rPr dirty="0"/>
              <a:t> de </a:t>
            </a:r>
            <a:r>
              <a:rPr dirty="0" err="1"/>
              <a:t>tipos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/>
              <a:t>Pode </a:t>
            </a:r>
            <a:r>
              <a:rPr dirty="0" err="1"/>
              <a:t>gerar</a:t>
            </a:r>
            <a:r>
              <a:rPr dirty="0"/>
              <a:t> </a:t>
            </a:r>
            <a:r>
              <a:rPr dirty="0" err="1"/>
              <a:t>comportamentos</a:t>
            </a:r>
            <a:r>
              <a:rPr dirty="0"/>
              <a:t> </a:t>
            </a:r>
            <a:r>
              <a:rPr dirty="0" err="1"/>
              <a:t>inesperados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 err="1"/>
              <a:t>Exemplo</a:t>
            </a:r>
            <a:r>
              <a:rPr dirty="0"/>
              <a:t> </a:t>
            </a:r>
            <a:r>
              <a:rPr dirty="0" err="1"/>
              <a:t>citado</a:t>
            </a:r>
            <a:r>
              <a:rPr dirty="0"/>
              <a:t>: JavaScript</a:t>
            </a:r>
            <a:r>
              <a:rPr lang="pt-BR" dirty="0"/>
              <a:t>,</a:t>
            </a:r>
            <a:r>
              <a:rPr lang="pt-BR" dirty="0" err="1"/>
              <a:t>python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Compilada × Interpretada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363B4"/>
                </a:solidFill>
                <a:latin typeface="Aptos"/>
              </a:defRPr>
            </a:pPr>
            <a:r>
              <a:t>COMPILADA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42033"/>
                </a:solidFill>
                <a:latin typeface="Aptos"/>
              </a:defRPr>
            </a:pPr>
            <a:r>
              <a:t>Código → Compilador → Binário → Execução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5120640" cy="8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rPr dirty="0" err="1"/>
              <a:t>Exemplos</a:t>
            </a:r>
            <a:r>
              <a:rPr dirty="0"/>
              <a:t> do material: C, C++, Go e Rust.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passa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etapa</a:t>
            </a:r>
            <a:r>
              <a:rPr dirty="0"/>
              <a:t> de </a:t>
            </a:r>
            <a:r>
              <a:rPr dirty="0" err="1"/>
              <a:t>compilação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A69A"/>
                </a:solidFill>
                <a:latin typeface="Aptos"/>
              </a:defRPr>
            </a:pPr>
            <a:r>
              <a:t>INTERPRETADA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5146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42033"/>
                </a:solidFill>
                <a:latin typeface="Aptos"/>
              </a:defRPr>
            </a:pPr>
            <a:r>
              <a:t>Código → Interpretador → Execução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429000"/>
            <a:ext cx="5120640" cy="813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rPr dirty="0" err="1"/>
              <a:t>Exemplos</a:t>
            </a:r>
            <a:r>
              <a:rPr dirty="0"/>
              <a:t> do material: Python, JavaScript e Ruby.</a:t>
            </a:r>
          </a:p>
          <a:p>
            <a:pPr>
              <a:spcAft>
                <a:spcPts val="1300"/>
              </a:spcAft>
              <a:defRPr sz="1800">
                <a:solidFill>
                  <a:srgbClr val="232A34"/>
                </a:solidFill>
                <a:latin typeface="Aptos"/>
              </a:defRPr>
            </a:pPr>
            <a:r>
              <a:rPr dirty="0" err="1"/>
              <a:t>Facilita</a:t>
            </a:r>
            <a:r>
              <a:rPr dirty="0"/>
              <a:t> </a:t>
            </a:r>
            <a:r>
              <a:rPr dirty="0" err="1"/>
              <a:t>testar</a:t>
            </a:r>
            <a:r>
              <a:rPr dirty="0"/>
              <a:t> e </a:t>
            </a:r>
            <a:r>
              <a:rPr dirty="0" err="1"/>
              <a:t>executar</a:t>
            </a:r>
            <a:r>
              <a:rPr dirty="0"/>
              <a:t>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rapidamente</a:t>
            </a:r>
            <a:r>
              <a:rPr dirty="0"/>
              <a:t>.</a:t>
            </a:r>
          </a:p>
        </p:txBody>
      </p:sp>
      <p:pic>
        <p:nvPicPr>
          <p:cNvPr id="11" name="Imagem 10" descr="O tradutor/intérprete da LIBRAS - Curso Completo de Pedagogia">
            <a:extLst>
              <a:ext uri="{FF2B5EF4-FFF2-40B4-BE49-F238E27FC236}">
                <a16:creationId xmlns:a16="http://schemas.microsoft.com/office/drawing/2014/main" id="{E059CE0F-D802-5309-F01A-BFF0A820D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794" y="4560654"/>
            <a:ext cx="3298529" cy="2014538"/>
          </a:xfrm>
          <a:prstGeom prst="rect">
            <a:avLst/>
          </a:prstGeom>
        </p:spPr>
      </p:pic>
      <p:pic>
        <p:nvPicPr>
          <p:cNvPr id="12" name="Imagem 11" descr="c:compiladores [Wiki Computação]">
            <a:extLst>
              <a:ext uri="{FF2B5EF4-FFF2-40B4-BE49-F238E27FC236}">
                <a16:creationId xmlns:a16="http://schemas.microsoft.com/office/drawing/2014/main" id="{11291E73-23AC-A698-1AA9-802B4161B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" y="4511993"/>
            <a:ext cx="5391150" cy="1838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Visual Studio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973"/>
                </a:solidFill>
                <a:latin typeface="Aptos"/>
              </a:defRPr>
            </a:pPr>
            <a:r>
              <a:t>Nosso ambiente para escrever e organizar os programas.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658368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rPr dirty="0" err="1"/>
              <a:t>Crie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pasta para a aula: aula02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rPr dirty="0" err="1"/>
              <a:t>Crie</a:t>
            </a:r>
            <a:r>
              <a:rPr dirty="0"/>
              <a:t> </a:t>
            </a:r>
            <a:r>
              <a:rPr dirty="0" err="1"/>
              <a:t>arquivos</a:t>
            </a:r>
            <a:r>
              <a:rPr dirty="0"/>
              <a:t> com </a:t>
            </a:r>
            <a:r>
              <a:rPr dirty="0" err="1"/>
              <a:t>nomes</a:t>
            </a:r>
            <a:r>
              <a:rPr dirty="0"/>
              <a:t> em </a:t>
            </a:r>
            <a:r>
              <a:rPr dirty="0" err="1"/>
              <a:t>letras</a:t>
            </a:r>
            <a:r>
              <a:rPr dirty="0"/>
              <a:t> </a:t>
            </a:r>
            <a:r>
              <a:rPr dirty="0" err="1"/>
              <a:t>minúsculas</a:t>
            </a:r>
            <a:r>
              <a:rPr dirty="0"/>
              <a:t>: prog1.js, prog2.js…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rPr dirty="0" err="1"/>
              <a:t>Extensão</a:t>
            </a:r>
            <a:r>
              <a:rPr dirty="0"/>
              <a:t> : </a:t>
            </a:r>
            <a:r>
              <a:rPr dirty="0" err="1"/>
              <a:t>VSCode</a:t>
            </a:r>
            <a:r>
              <a:rPr dirty="0"/>
              <a:t> Icons</a:t>
            </a:r>
          </a:p>
          <a:p>
            <a:pPr>
              <a:spcAft>
                <a:spcPts val="1300"/>
              </a:spcAft>
              <a:defRPr sz="2100">
                <a:solidFill>
                  <a:srgbClr val="232A34"/>
                </a:solidFill>
                <a:latin typeface="Aptos"/>
              </a:defRPr>
            </a:pPr>
            <a:r>
              <a:rPr dirty="0"/>
              <a:t>Use o terminal </a:t>
            </a:r>
            <a:r>
              <a:rPr dirty="0" err="1"/>
              <a:t>integrado</a:t>
            </a:r>
            <a:r>
              <a:rPr dirty="0"/>
              <a:t> para </a:t>
            </a:r>
            <a:r>
              <a:rPr dirty="0" err="1"/>
              <a:t>executar</a:t>
            </a:r>
            <a:r>
              <a:rPr dirty="0"/>
              <a:t> </a:t>
            </a:r>
            <a:r>
              <a:rPr dirty="0" err="1"/>
              <a:t>seus</a:t>
            </a:r>
            <a:r>
              <a:rPr dirty="0"/>
              <a:t> </a:t>
            </a:r>
            <a:r>
              <a:rPr dirty="0" err="1"/>
              <a:t>programas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874519"/>
            <a:ext cx="3474720" cy="246888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0" y="205740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aula02/</a:t>
            </a:r>
            <a:br/>
            <a:r>
              <a:t>  prog1.js</a:t>
            </a:r>
            <a:br/>
            <a:r>
              <a:t>  prog2.js</a:t>
            </a:r>
            <a:br/>
            <a:r>
              <a:t>  prog3.js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Atalhos úteis no VS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232A34"/>
                </a:solidFill>
                <a:latin typeface="Aptos"/>
              </a:defRPr>
            </a:pPr>
            <a:r>
              <a:t>Shift + Alt + ↓ / ↑  → duplicar linha ou seleção</a:t>
            </a:r>
          </a:p>
          <a:p>
            <a:pPr>
              <a:spcAft>
                <a:spcPts val="1300"/>
              </a:spcAft>
              <a:defRPr sz="2300">
                <a:solidFill>
                  <a:srgbClr val="232A34"/>
                </a:solidFill>
                <a:latin typeface="Aptos"/>
              </a:defRPr>
            </a:pPr>
            <a:r>
              <a:t>Ctrl + D  → selecionar a próxima ocorrência</a:t>
            </a:r>
          </a:p>
          <a:p>
            <a:pPr>
              <a:spcAft>
                <a:spcPts val="1300"/>
              </a:spcAft>
              <a:defRPr sz="2300">
                <a:solidFill>
                  <a:srgbClr val="232A34"/>
                </a:solidFill>
                <a:latin typeface="Aptos"/>
              </a:defRPr>
            </a:pPr>
            <a:r>
              <a:t>Ctrl + G  → ir diretamente para uma linha</a:t>
            </a:r>
          </a:p>
          <a:p>
            <a:pPr>
              <a:spcAft>
                <a:spcPts val="1300"/>
              </a:spcAft>
              <a:defRPr sz="2300">
                <a:solidFill>
                  <a:srgbClr val="232A34"/>
                </a:solidFill>
                <a:latin typeface="Aptos"/>
              </a:defRPr>
            </a:pPr>
            <a:r>
              <a:t>Observe também as informações exibidas no canto inferior direito do editor.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973"/>
                </a:solidFill>
                <a:latin typeface="Aptos"/>
              </a:defRPr>
            </a:pPr>
            <a:r>
              <a:t>Permite executar JavaScript fora do navegador.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029200" cy="118872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console.log("Olá, mundo!");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F6973"/>
                </a:solidFill>
                <a:latin typeface="Aptos"/>
              </a:defRPr>
            </a:pPr>
            <a:r>
              <a:t>Salve como: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2033"/>
                </a:solidFill>
                <a:latin typeface="Aptos"/>
              </a:defRPr>
            </a:pPr>
            <a:r>
              <a:t>prog1.js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F6973"/>
                </a:solidFill>
                <a:latin typeface="Aptos"/>
              </a:defRPr>
            </a:pPr>
            <a:r>
              <a:t>No terminal: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423160"/>
            <a:ext cx="4206240" cy="105156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606040"/>
            <a:ext cx="374903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node prog1.js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F6973"/>
                </a:solidFill>
                <a:latin typeface="Aptos"/>
              </a:defRPr>
            </a:pPr>
            <a:r>
              <a:t>Teste antes: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4206240" cy="105156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572000"/>
            <a:ext cx="374903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node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Variáveis e constantes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329184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rPr lang="pt-BR" dirty="0"/>
              <a:t>var</a:t>
            </a:r>
            <a:r>
              <a:rPr dirty="0"/>
              <a:t> </a:t>
            </a:r>
            <a:r>
              <a:rPr dirty="0" err="1"/>
              <a:t>nome</a:t>
            </a:r>
            <a:r>
              <a:rPr dirty="0"/>
              <a:t> = "Ana";</a:t>
            </a:r>
            <a:br>
              <a:rPr dirty="0"/>
            </a:br>
            <a:r>
              <a:rPr lang="pt-BR" dirty="0"/>
              <a:t>var</a:t>
            </a:r>
            <a:r>
              <a:rPr dirty="0"/>
              <a:t> </a:t>
            </a:r>
            <a:r>
              <a:rPr dirty="0" err="1"/>
              <a:t>idade</a:t>
            </a:r>
            <a:r>
              <a:rPr dirty="0"/>
              <a:t> = 25;</a:t>
            </a:r>
            <a:br>
              <a:rPr dirty="0"/>
            </a:br>
            <a:br>
              <a:rPr dirty="0"/>
            </a:br>
            <a:r>
              <a:rPr dirty="0"/>
              <a:t>console.log(</a:t>
            </a:r>
            <a:r>
              <a:rPr dirty="0" err="1"/>
              <a:t>nome</a:t>
            </a:r>
            <a:r>
              <a:rPr dirty="0"/>
              <a:t>);</a:t>
            </a:r>
            <a:br>
              <a:rPr dirty="0"/>
            </a:br>
            <a:r>
              <a:rPr dirty="0"/>
              <a:t>console.log(</a:t>
            </a:r>
            <a:r>
              <a:rPr dirty="0" err="1"/>
              <a:t>idade</a:t>
            </a:r>
            <a:r>
              <a:rPr dirty="0"/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63B4"/>
                </a:solidFill>
                <a:latin typeface="Aptos"/>
              </a:defRPr>
            </a:pPr>
            <a:r>
              <a:t>Variável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5146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32A34"/>
                </a:solidFill>
                <a:latin typeface="Aptos"/>
              </a:defRPr>
            </a:pPr>
            <a:r>
              <a:t>Um nome associado a um valor que pode ser usado e, conforme a declaração, alterado durante o programa.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160520"/>
            <a:ext cx="4389120" cy="96012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43434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const pais = "Brasil";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5509-2B55-8475-96BB-EE40FCFD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254B06-4F3D-1A41-0266-C63C540CD1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5D96C-EFE0-49C1-DB37-D26C1B497680}"/>
              </a:ext>
            </a:extLst>
          </p:cNvPr>
          <p:cNvSpPr txBox="1"/>
          <p:nvPr/>
        </p:nvSpPr>
        <p:spPr>
          <a:xfrm>
            <a:off x="594360" y="41148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rPr lang="pt-BR" dirty="0"/>
              <a:t>Tipos de dados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D737B-5BEC-BEC7-ED48-475B4E805B2A}"/>
              </a:ext>
            </a:extLst>
          </p:cNvPr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B6B07C-87D1-D6B2-0889-0412699D650A}"/>
              </a:ext>
            </a:extLst>
          </p:cNvPr>
          <p:cNvSpPr/>
          <p:nvPr/>
        </p:nvSpPr>
        <p:spPr>
          <a:xfrm>
            <a:off x="731520" y="1828800"/>
            <a:ext cx="5120640" cy="329184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DB71BF-68FE-24A6-6732-FBAC81293501}"/>
              </a:ext>
            </a:extLst>
          </p:cNvPr>
          <p:cNvSpPr txBox="1"/>
          <p:nvPr/>
        </p:nvSpPr>
        <p:spPr>
          <a:xfrm>
            <a:off x="960120" y="2011680"/>
            <a:ext cx="46634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rPr lang="pt-BR" dirty="0"/>
              <a:t>var</a:t>
            </a:r>
            <a:r>
              <a:rPr dirty="0"/>
              <a:t> </a:t>
            </a:r>
            <a:r>
              <a:rPr dirty="0" err="1"/>
              <a:t>nome</a:t>
            </a:r>
            <a:r>
              <a:rPr dirty="0"/>
              <a:t> = "Ana";</a:t>
            </a:r>
            <a:br>
              <a:rPr dirty="0"/>
            </a:br>
            <a:r>
              <a:rPr lang="pt-BR" dirty="0"/>
              <a:t>var</a:t>
            </a:r>
            <a:r>
              <a:rPr dirty="0"/>
              <a:t> </a:t>
            </a:r>
            <a:r>
              <a:rPr dirty="0" err="1"/>
              <a:t>idade</a:t>
            </a:r>
            <a:r>
              <a:rPr dirty="0"/>
              <a:t> = 25;</a:t>
            </a:r>
            <a:br>
              <a:rPr dirty="0"/>
            </a:br>
            <a:br>
              <a:rPr dirty="0"/>
            </a:br>
            <a:r>
              <a:rPr dirty="0"/>
              <a:t>console.log(</a:t>
            </a:r>
            <a:r>
              <a:rPr dirty="0" err="1"/>
              <a:t>nome</a:t>
            </a:r>
            <a:r>
              <a:rPr dirty="0"/>
              <a:t>);</a:t>
            </a:r>
            <a:br>
              <a:rPr dirty="0"/>
            </a:br>
            <a:r>
              <a:rPr dirty="0"/>
              <a:t>console.log(</a:t>
            </a:r>
            <a:r>
              <a:rPr dirty="0" err="1"/>
              <a:t>idade</a:t>
            </a:r>
            <a:r>
              <a:rPr dirty="0"/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03CAD3-CC76-15C2-5511-88915529472E}"/>
              </a:ext>
            </a:extLst>
          </p:cNvPr>
          <p:cNvSpPr txBox="1"/>
          <p:nvPr/>
        </p:nvSpPr>
        <p:spPr>
          <a:xfrm>
            <a:off x="6309360" y="1920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63B4"/>
                </a:solidFill>
                <a:latin typeface="Aptos"/>
              </a:defRPr>
            </a:pPr>
            <a:r>
              <a:t>Variável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7A3C67-CED4-B525-AACE-C4AF9BD7835A}"/>
              </a:ext>
            </a:extLst>
          </p:cNvPr>
          <p:cNvSpPr txBox="1"/>
          <p:nvPr/>
        </p:nvSpPr>
        <p:spPr>
          <a:xfrm>
            <a:off x="6309360" y="25146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232A34"/>
                </a:solidFill>
                <a:latin typeface="Aptos"/>
              </a:defRPr>
            </a:pPr>
            <a:r>
              <a:t>Um nome associado a um valor que pode ser usado e, conforme a declaração, alterado durante o programa.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0675CC-D237-2876-8230-58D5A3A5F965}"/>
              </a:ext>
            </a:extLst>
          </p:cNvPr>
          <p:cNvSpPr/>
          <p:nvPr/>
        </p:nvSpPr>
        <p:spPr>
          <a:xfrm>
            <a:off x="6309360" y="4160520"/>
            <a:ext cx="4389120" cy="96012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F5B753-07AA-9FF5-457A-6BD080BE406B}"/>
              </a:ext>
            </a:extLst>
          </p:cNvPr>
          <p:cNvSpPr txBox="1"/>
          <p:nvPr/>
        </p:nvSpPr>
        <p:spPr>
          <a:xfrm>
            <a:off x="6537960" y="43434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const pais = "Brasil";</a:t>
            </a:r>
          </a:p>
        </p:txBody>
      </p:sp>
    </p:spTree>
    <p:extLst>
      <p:ext uri="{BB962C8B-B14F-4D97-AF65-F5344CB8AC3E}">
        <p14:creationId xmlns:p14="http://schemas.microsoft.com/office/powerpoint/2010/main" val="250244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Tipos de dados primitivos em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F6973"/>
                </a:solidFill>
                <a:latin typeface="Aptos"/>
              </a:defRPr>
            </a:pPr>
            <a:r>
              <a:t>Valores básicos que a linguagem usa para representar informações.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257800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3B4"/>
                </a:solidFill>
                <a:latin typeface="Aptos"/>
              </a:defRPr>
            </a:pPr>
            <a:r>
              <a:t>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8308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033"/>
                </a:solidFill>
                <a:latin typeface="Consolas"/>
              </a:defRPr>
            </a:pPr>
            <a:r>
              <a:t>let nome = "Maria";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130552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15768"/>
            <a:ext cx="5257800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8254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3B4"/>
                </a:solidFill>
                <a:latin typeface="Aptos"/>
              </a:defRPr>
            </a:pPr>
            <a:r>
              <a:t>Number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80720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033"/>
                </a:solidFill>
                <a:latin typeface="Consolas"/>
              </a:defRPr>
            </a:pPr>
            <a:r>
              <a:t>let idade = 25;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1546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números inteiros ou decimais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39896"/>
            <a:ext cx="5257800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8496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3B4"/>
                </a:solidFill>
                <a:latin typeface="Aptos"/>
              </a:defRPr>
            </a:pPr>
            <a:r>
              <a:t>Boolean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831335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033"/>
                </a:solidFill>
                <a:latin typeface="Consolas"/>
              </a:defRPr>
            </a:pPr>
            <a:r>
              <a:t>let aprovado = true;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178808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verdadeiro ou falso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64024"/>
            <a:ext cx="5257800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4873752"/>
            <a:ext cx="1252728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3B4"/>
                </a:solidFill>
                <a:latin typeface="Aptos"/>
              </a:defRPr>
            </a:pPr>
            <a:r>
              <a:rPr dirty="0"/>
              <a:t>Undefined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855464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033"/>
                </a:solidFill>
                <a:latin typeface="Consolas"/>
              </a:defRPr>
            </a:pPr>
            <a:r>
              <a:t>let cidade;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202936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valor ainda não definido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91640"/>
            <a:ext cx="5257800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"/>
              </a:defRPr>
            </a:pPr>
            <a:r>
              <a:t>Null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783080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033"/>
                </a:solidFill>
                <a:latin typeface="Consolas"/>
              </a:defRPr>
            </a:pPr>
            <a:r>
              <a:t>let telefone = null;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130552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ausência intencional de valor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2715768"/>
            <a:ext cx="5257800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282549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"/>
              </a:defRPr>
            </a:pPr>
            <a:r>
              <a:t>BigInt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2807208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033"/>
                </a:solidFill>
                <a:latin typeface="Consolas"/>
              </a:defRPr>
            </a:pPr>
            <a:r>
              <a:t>let valor = 9007199254740993n;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154680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inteiros muito grandes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739896"/>
            <a:ext cx="5257800" cy="841248"/>
          </a:xfrm>
          <a:prstGeom prst="roundRect">
            <a:avLst/>
          </a:prstGeom>
          <a:solidFill>
            <a:srgbClr val="FAFAFA"/>
          </a:solidFill>
          <a:ln>
            <a:solidFill>
              <a:srgbClr val="D7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38496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A69A"/>
                </a:solidFill>
                <a:latin typeface="Aptos"/>
              </a:defRPr>
            </a:pPr>
            <a:r>
              <a:t>Symbol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831335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42033"/>
                </a:solidFill>
                <a:latin typeface="Consolas"/>
              </a:defRPr>
            </a:pPr>
            <a:r>
              <a:rPr dirty="0"/>
              <a:t>let id = Symbol("id");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178808"/>
            <a:ext cx="3611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identificadores únicos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806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2033"/>
                </a:solidFill>
                <a:latin typeface="Aptos"/>
              </a:defRPr>
            </a:pPr>
            <a:r>
              <a:t>Para esta aula, concentre a prática em String, Number e Boolean.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Operações com variáveis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973"/>
                </a:solidFill>
                <a:latin typeface="Aptos"/>
              </a:defRPr>
            </a:pPr>
            <a:r>
              <a:t>Antes de executar, tente prever o resultado.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669280" cy="338328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52120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rPr lang="pt-BR" dirty="0"/>
              <a:t>var</a:t>
            </a:r>
            <a:r>
              <a:rPr dirty="0"/>
              <a:t> num1 = 10;</a:t>
            </a:r>
            <a:br>
              <a:rPr dirty="0"/>
            </a:br>
            <a:r>
              <a:rPr lang="pt-BR" dirty="0"/>
              <a:t>var</a:t>
            </a:r>
            <a:r>
              <a:rPr dirty="0"/>
              <a:t> num2 = 5;</a:t>
            </a:r>
            <a:br>
              <a:rPr dirty="0"/>
            </a:br>
            <a:br>
              <a:rPr dirty="0"/>
            </a:br>
            <a:r>
              <a:rPr dirty="0"/>
              <a:t>console.log(num1 + num2);</a:t>
            </a:r>
            <a:br>
              <a:rPr dirty="0"/>
            </a:br>
            <a:r>
              <a:rPr dirty="0"/>
              <a:t>console.log(num1 * num2);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0116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363B4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48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32A34"/>
                </a:solidFill>
                <a:latin typeface="Aptos"/>
              </a:defRPr>
            </a:pPr>
            <a:r>
              <a:t>soma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9718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26A69A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232A34"/>
                </a:solidFill>
                <a:latin typeface="Aptos"/>
              </a:defRPr>
            </a:pPr>
            <a:r>
              <a:t>multiplicação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6634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2033"/>
                </a:solidFill>
                <a:latin typeface="Aptos"/>
              </a:defRPr>
            </a:pPr>
            <a:r>
              <a:t>Qual saída você espera?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Prática guiada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1. Crie uma variável nome e exiba seu nome.</a:t>
            </a:r>
          </a:p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2. Crie uma variável idade e exiba: “Minha idade é X”.</a:t>
            </a:r>
          </a:p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3. Crie num1 e num2 e mostre soma e multiplicação.</a:t>
            </a:r>
          </a:p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4. Crie cidade e país e exiba uma frase com essas informações.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69A"/>
                </a:solidFill>
                <a:latin typeface="Aptos"/>
              </a:defRPr>
            </a:pPr>
            <a:r>
              <a:t>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AFAFA"/>
                </a:solidFill>
                <a:latin typeface="Aptos"/>
              </a:defRPr>
            </a:pPr>
            <a:r>
              <a:t>Agora é com você.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CDDAE6"/>
                </a:solidFill>
                <a:latin typeface="Aptos"/>
              </a:defRPr>
            </a:pPr>
            <a:r>
              <a:t>Crie os programas em arquivos separados: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AFAFA"/>
                </a:solidFill>
                <a:latin typeface="Aptos"/>
              </a:defRPr>
            </a:pPr>
            <a:r>
              <a:t>prog3.js  → cidade e país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AFAFA"/>
                </a:solidFill>
                <a:latin typeface="Aptos"/>
              </a:defRPr>
            </a:pPr>
            <a:r>
              <a:t>prog4.js  → soma de dois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AFAFA"/>
                </a:solidFill>
                <a:latin typeface="Aptos"/>
              </a:defRPr>
            </a:pPr>
            <a:r>
              <a:t>prog5.js  → nome e 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060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AFAFA"/>
                </a:solidFill>
                <a:latin typeface="Aptos"/>
              </a:defRPr>
            </a:pPr>
            <a:r>
              <a:t>prog6.js  → multiplicação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5204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AFAFA"/>
                </a:solidFill>
                <a:latin typeface="Aptos"/>
              </a:defRPr>
            </a:pPr>
            <a:r>
              <a:t>prog7.js  → média de duas notas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434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AFAFA"/>
                </a:solidFill>
                <a:latin typeface="Aptos"/>
              </a:defRPr>
            </a:pPr>
            <a:r>
              <a:t>prog8.js  → área de um retângulo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Desafio: média do aluno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F6973"/>
                </a:solidFill>
                <a:latin typeface="Aptos"/>
              </a:defRPr>
            </a:pPr>
            <a:r>
              <a:t>Fórmula: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033"/>
                </a:solidFill>
                <a:latin typeface="Aptos"/>
              </a:defRPr>
            </a:pPr>
            <a:r>
              <a:t>média = (nota1 + nota2) /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737360"/>
            <a:ext cx="5029200" cy="347472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9202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let nota1 = 8;</a:t>
            </a:r>
            <a:br/>
            <a:r>
              <a:t>let nota2 = 7;</a:t>
            </a:r>
            <a:br/>
            <a:br/>
            <a:r>
              <a:t>let media = (nota1 + nota2) / 2;</a:t>
            </a:r>
            <a:br/>
            <a:r>
              <a:t>console.log(media);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363B4"/>
                </a:solidFill>
                <a:latin typeface="Aptos"/>
              </a:defRPr>
            </a:pPr>
            <a:r>
              <a:t>Por que os parênteses são importantes?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Desafio: área do retângulo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033"/>
                </a:solidFill>
                <a:latin typeface="Aptos"/>
              </a:defRPr>
            </a:pPr>
            <a:r>
              <a:t>A = b × 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691640"/>
            <a:ext cx="5303520" cy="347472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97880" y="187452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let base = 10;</a:t>
            </a:r>
            <a:br/>
            <a:r>
              <a:t>let altura = 5;</a:t>
            </a:r>
            <a:br/>
            <a:br/>
            <a:r>
              <a:t>let area = base * altura;</a:t>
            </a:r>
            <a:br/>
            <a:r>
              <a:t>console.log(area);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363B4"/>
                </a:solidFill>
                <a:latin typeface="Aptos"/>
              </a:defRPr>
            </a:pPr>
            <a:r>
              <a:t>Altere os valores e execute novamente.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033"/>
                </a:solidFill>
                <a:latin typeface="Aptos"/>
              </a:defRPr>
            </a:pPr>
            <a:r>
              <a:t>Quando aparecer um erro…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669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Leia a mensagem do terminal.</a:t>
            </a:r>
          </a:p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Procure a linha indicada.</a:t>
            </a:r>
          </a:p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Compare o que escreveu com o que pretendia escrever.</a:t>
            </a:r>
          </a:p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Corrija uma coisa de cada vez.</a:t>
            </a:r>
          </a:p>
          <a:p>
            <a:pPr>
              <a:spcAft>
                <a:spcPts val="1300"/>
              </a:spcAft>
              <a:defRPr sz="2200">
                <a:solidFill>
                  <a:srgbClr val="232A34"/>
                </a:solidFill>
                <a:latin typeface="Aptos"/>
              </a:defRPr>
            </a:pPr>
            <a:r>
              <a:t>Execute novamente e observe o resultado.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920240"/>
            <a:ext cx="4114800" cy="1645920"/>
          </a:xfrm>
          <a:prstGeom prst="roundRect">
            <a:avLst/>
          </a:prstGeom>
          <a:solidFill>
            <a:srgbClr val="1C2026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210312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DCEBE6"/>
                </a:solidFill>
                <a:latin typeface="Consolas"/>
              </a:defRPr>
            </a:pPr>
            <a:r>
              <a:t>console.log(nome);</a:t>
            </a:r>
            <a:br/>
            <a:br/>
            <a:r>
              <a:t>// nome foi declarado?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F6973"/>
                </a:solidFill>
                <a:latin typeface="Aptos"/>
              </a:defRPr>
            </a:pPr>
            <a:r>
              <a:t>Pergunta-chave: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45262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42033"/>
                </a:solidFill>
                <a:latin typeface="Aptos"/>
              </a:defRPr>
            </a:pPr>
            <a:r>
              <a:t>“O que eu esperava que acontecesse?”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A69A"/>
                </a:solidFill>
                <a:latin typeface="Aptos"/>
              </a:defRPr>
            </a:pPr>
            <a: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AFAFA"/>
                </a:solidFill>
                <a:latin typeface="Aptos"/>
              </a:defRPr>
            </a:pPr>
            <a:r>
              <a:t>Você consegue explicar?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FAFAFA"/>
                </a:solidFill>
                <a:latin typeface="Aptos"/>
              </a:defRPr>
            </a:pPr>
            <a:r>
              <a:t>O que é uma variável?</a:t>
            </a:r>
          </a:p>
          <a:p>
            <a:pPr>
              <a:spcAft>
                <a:spcPts val="1300"/>
              </a:spcAft>
              <a:defRPr sz="2200">
                <a:solidFill>
                  <a:srgbClr val="FAFAFA"/>
                </a:solidFill>
                <a:latin typeface="Aptos"/>
              </a:defRPr>
            </a:pPr>
            <a:r>
              <a:t>Para que usamos o Node.js nesta aula?</a:t>
            </a:r>
          </a:p>
          <a:p>
            <a:pPr>
              <a:spcAft>
                <a:spcPts val="1300"/>
              </a:spcAft>
              <a:defRPr sz="2200">
                <a:solidFill>
                  <a:srgbClr val="FAFAFA"/>
                </a:solidFill>
                <a:latin typeface="Aptos"/>
              </a:defRPr>
            </a:pPr>
            <a:r>
              <a:t>O que console.log() faz?</a:t>
            </a:r>
          </a:p>
          <a:p>
            <a:pPr>
              <a:spcAft>
                <a:spcPts val="1300"/>
              </a:spcAft>
              <a:defRPr sz="2200">
                <a:solidFill>
                  <a:srgbClr val="FAFAFA"/>
                </a:solidFill>
                <a:latin typeface="Aptos"/>
              </a:defRPr>
            </a:pPr>
            <a:r>
              <a:t>Como executamos um arquivo .js pelo terminal?</a:t>
            </a:r>
          </a:p>
          <a:p>
            <a:pPr>
              <a:spcAft>
                <a:spcPts val="1300"/>
              </a:spcAft>
              <a:defRPr sz="2200">
                <a:solidFill>
                  <a:srgbClr val="FAFAFA"/>
                </a:solidFill>
                <a:latin typeface="Aptos"/>
              </a:defRPr>
            </a:pPr>
            <a:r>
              <a:t>Como calcular a média de duas notas em um programa?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927</Words>
  <Application>Microsoft Office PowerPoint</Application>
  <PresentationFormat>Widescreen</PresentationFormat>
  <Paragraphs>130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Jonathan guimaraes</cp:lastModifiedBy>
  <cp:revision>3</cp:revision>
  <dcterms:created xsi:type="dcterms:W3CDTF">2013-01-27T09:14:16Z</dcterms:created>
  <dcterms:modified xsi:type="dcterms:W3CDTF">2026-09-11T21:40:30Z</dcterms:modified>
  <cp:category/>
</cp:coreProperties>
</file>